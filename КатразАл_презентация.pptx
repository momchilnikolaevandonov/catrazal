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0" r:id="rId1"/>
  </p:sldMasterIdLst>
  <p:sldIdLst>
    <p:sldId id="256" r:id="rId2"/>
    <p:sldId id="258" r:id="rId3"/>
    <p:sldId id="257" r:id="rId4"/>
    <p:sldId id="259" r:id="rId5"/>
    <p:sldId id="260" r:id="rId6"/>
    <p:sldId id="262" r:id="rId7"/>
    <p:sldId id="266" r:id="rId8"/>
    <p:sldId id="263" r:id="rId9"/>
    <p:sldId id="272" r:id="rId10"/>
    <p:sldId id="273" r:id="rId11"/>
    <p:sldId id="276" r:id="rId12"/>
    <p:sldId id="277" r:id="rId13"/>
    <p:sldId id="278" r:id="rId14"/>
    <p:sldId id="279" r:id="rId15"/>
    <p:sldId id="280" r:id="rId16"/>
    <p:sldId id="271" r:id="rId17"/>
    <p:sldId id="264" r:id="rId18"/>
    <p:sldId id="26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808A"/>
    <a:srgbClr val="000066"/>
    <a:srgbClr val="6DB11A"/>
    <a:srgbClr val="549E39"/>
    <a:srgbClr val="1C1C1C"/>
    <a:srgbClr val="E1A6E2"/>
    <a:srgbClr val="2E2E2E"/>
    <a:srgbClr val="111111"/>
    <a:srgbClr val="D583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75F7-3665-4462-BE55-2C56A6A7F420}" type="datetimeFigureOut">
              <a:rPr lang="bg-BG" smtClean="0"/>
              <a:t>29.3.2026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FAAE1-1F14-4108-9DDC-F3FBCA6C944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8991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75F7-3665-4462-BE55-2C56A6A7F420}" type="datetimeFigureOut">
              <a:rPr lang="bg-BG" smtClean="0"/>
              <a:t>29.3.2026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FAAE1-1F14-4108-9DDC-F3FBCA6C944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93380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75F7-3665-4462-BE55-2C56A6A7F420}" type="datetimeFigureOut">
              <a:rPr lang="bg-BG" smtClean="0"/>
              <a:t>29.3.2026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FAAE1-1F14-4108-9DDC-F3FBCA6C944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37831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75F7-3665-4462-BE55-2C56A6A7F420}" type="datetimeFigureOut">
              <a:rPr lang="bg-BG" smtClean="0"/>
              <a:t>29.3.2026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FAAE1-1F14-4108-9DDC-F3FBCA6C944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51663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75F7-3665-4462-BE55-2C56A6A7F420}" type="datetimeFigureOut">
              <a:rPr lang="bg-BG" smtClean="0"/>
              <a:t>29.3.2026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FAAE1-1F14-4108-9DDC-F3FBCA6C944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12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75F7-3665-4462-BE55-2C56A6A7F420}" type="datetimeFigureOut">
              <a:rPr lang="bg-BG" smtClean="0"/>
              <a:t>29.3.2026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FAAE1-1F14-4108-9DDC-F3FBCA6C944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70811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75F7-3665-4462-BE55-2C56A6A7F420}" type="datetimeFigureOut">
              <a:rPr lang="bg-BG" smtClean="0"/>
              <a:t>29.3.2026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FAAE1-1F14-4108-9DDC-F3FBCA6C944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44912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75F7-3665-4462-BE55-2C56A6A7F420}" type="datetimeFigureOut">
              <a:rPr lang="bg-BG" smtClean="0"/>
              <a:t>29.3.2026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FAAE1-1F14-4108-9DDC-F3FBCA6C944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00657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75F7-3665-4462-BE55-2C56A6A7F420}" type="datetimeFigureOut">
              <a:rPr lang="bg-BG" smtClean="0"/>
              <a:t>29.3.2026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FAAE1-1F14-4108-9DDC-F3FBCA6C944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18889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75F7-3665-4462-BE55-2C56A6A7F420}" type="datetimeFigureOut">
              <a:rPr lang="bg-BG" smtClean="0"/>
              <a:t>29.3.2026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FAAE1-1F14-4108-9DDC-F3FBCA6C944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34582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75F7-3665-4462-BE55-2C56A6A7F420}" type="datetimeFigureOut">
              <a:rPr lang="bg-BG" smtClean="0"/>
              <a:t>29.3.2026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FAAE1-1F14-4108-9DDC-F3FBCA6C944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59493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2975F7-3665-4462-BE55-2C56A6A7F420}" type="datetimeFigureOut">
              <a:rPr lang="bg-BG" smtClean="0"/>
              <a:t>29.3.2026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5FAAE1-1F14-4108-9DDC-F3FBCA6C944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23139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  <p:sldLayoutId id="2147483939" r:id="rId9"/>
    <p:sldLayoutId id="2147483940" r:id="rId10"/>
    <p:sldLayoutId id="214748394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MySQL/default.asp" TargetMode="External"/><Relationship Id="rId7" Type="http://schemas.microsoft.com/office/2007/relationships/hdphoto" Target="../media/hdphoto1.wdp"/><Relationship Id="rId2" Type="http://schemas.openxmlformats.org/officeDocument/2006/relationships/hyperlink" Target="https://dev.mysql.com/doc/workbench/en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hyperlink" Target="https://gemini.google.com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img2.clipart-library.com/27/clip-art-jail-bars/clip-art-jail-bars-1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378" y="120371"/>
            <a:ext cx="10013538" cy="6527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81891" y="399011"/>
            <a:ext cx="532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bg-BG" dirty="0"/>
          </a:p>
        </p:txBody>
      </p:sp>
      <p:sp>
        <p:nvSpPr>
          <p:cNvPr id="10" name="TextBox 9"/>
          <p:cNvSpPr txBox="1"/>
          <p:nvPr/>
        </p:nvSpPr>
        <p:spPr>
          <a:xfrm>
            <a:off x="3488706" y="5275570"/>
            <a:ext cx="7240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7200" b="1" i="1" dirty="0">
                <a:latin typeface="Sitka Display" panose="02000505000000020004" pitchFamily="2" charset="0"/>
              </a:rPr>
              <a:t>Катр</a:t>
            </a:r>
            <a:r>
              <a:rPr lang="en-US" sz="7200" b="1" i="1" dirty="0">
                <a:latin typeface="Sitka Display" panose="02000505000000020004" pitchFamily="2" charset="0"/>
              </a:rPr>
              <a:t>a</a:t>
            </a:r>
            <a:r>
              <a:rPr lang="bg-BG" sz="7200" b="1" i="1" dirty="0">
                <a:latin typeface="Sitka Display" panose="02000505000000020004" pitchFamily="2" charset="0"/>
              </a:rPr>
              <a:t>з</a:t>
            </a:r>
            <a:r>
              <a:rPr lang="en-US" sz="7200" b="1" i="1" dirty="0">
                <a:latin typeface="Sitka Display" panose="02000505000000020004" pitchFamily="2" charset="0"/>
              </a:rPr>
              <a:t>A</a:t>
            </a:r>
            <a:r>
              <a:rPr lang="bg-BG" sz="7200" b="1" i="1" dirty="0">
                <a:latin typeface="Sitka Display" panose="02000505000000020004" pitchFamily="2" charset="0"/>
              </a:rPr>
              <a:t>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014" y="5875734"/>
            <a:ext cx="372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2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Изготвено от:</a:t>
            </a:r>
          </a:p>
          <a:p>
            <a:r>
              <a:rPr lang="bg-BG" sz="12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Емануил Калчев</a:t>
            </a:r>
            <a:endParaRPr lang="bg-BG" sz="1200" dirty="0">
              <a:solidFill>
                <a:schemeClr val="bg1"/>
              </a:solidFill>
              <a:latin typeface="Century Schoolbook" panose="02040604050505020304" pitchFamily="18" charset="0"/>
            </a:endParaRPr>
          </a:p>
          <a:p>
            <a:r>
              <a:rPr lang="bg-BG" sz="12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Жасмина Колева</a:t>
            </a:r>
            <a:endParaRPr lang="bg-BG" sz="1200" dirty="0">
              <a:solidFill>
                <a:schemeClr val="bg1"/>
              </a:solidFill>
              <a:latin typeface="Century Schoolbook" panose="02040604050505020304" pitchFamily="18" charset="0"/>
            </a:endParaRPr>
          </a:p>
          <a:p>
            <a:r>
              <a:rPr lang="bg-BG" sz="12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Момчил Андонов</a:t>
            </a:r>
            <a:endParaRPr lang="bg-BG" sz="1200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742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15" y="365125"/>
            <a:ext cx="11299370" cy="1325563"/>
          </a:xfrm>
          <a:solidFill>
            <a:schemeClr val="bg2">
              <a:lumMod val="25000"/>
            </a:schemeClr>
          </a:solidFill>
        </p:spPr>
        <p:txBody>
          <a:bodyPr/>
          <a:lstStyle/>
          <a:p>
            <a:pPr algn="ctr"/>
            <a:r>
              <a:rPr lang="bg-BG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itka Display" panose="02000505000000020004" pitchFamily="2" charset="0"/>
                <a:cs typeface="Calibri bold" panose="020F0702030404030204" pitchFamily="34" charset="0"/>
              </a:rPr>
              <a:t>ЗА НАС: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148" y="2006883"/>
            <a:ext cx="5799488" cy="4551939"/>
          </a:xfrm>
        </p:spPr>
        <p:txBody>
          <a:bodyPr>
            <a:normAutofit fontScale="92500" lnSpcReduction="10000"/>
          </a:bodyPr>
          <a:lstStyle/>
          <a:p>
            <a:pPr marL="0" indent="0" algn="r">
              <a:buNone/>
            </a:pPr>
            <a:r>
              <a:rPr lang="ru-RU" sz="3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Ние сме екип, който разработва база данни за управление на информацията в затворническа система. Проектът цели по-лесно съхранение, обработка и проследяване на данни за лишени от свобода, персонал и дейности, с фокус върху сигурност, точност и ефективност</a:t>
            </a:r>
            <a:r>
              <a:rPr lang="ru-RU" sz="3600" dirty="0">
                <a:solidFill>
                  <a:schemeClr val="bg1"/>
                </a:solidFill>
              </a:rPr>
              <a:t>.</a:t>
            </a:r>
            <a:endParaRPr lang="bg-BG" sz="3600" dirty="0">
              <a:solidFill>
                <a:schemeClr val="bg1"/>
              </a:solidFill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737826" y="2006884"/>
            <a:ext cx="4391992" cy="45519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8175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131" y="391180"/>
            <a:ext cx="11562183" cy="1356360"/>
          </a:xfrm>
          <a:solidFill>
            <a:schemeClr val="tx1">
              <a:lumMod val="75000"/>
              <a:lumOff val="2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bg-BG" sz="60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itka Display" panose="02000505000000020004" pitchFamily="2" charset="0"/>
                <a:cs typeface="Calibri bold" panose="020F0702030404030204" pitchFamily="34" charset="0"/>
              </a:rPr>
              <a:t>Цел</a:t>
            </a:r>
            <a:r>
              <a:rPr lang="en-US" sz="60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itka Display" panose="02000505000000020004" pitchFamily="2" charset="0"/>
                <a:cs typeface="Calibri bold" panose="020F0702030404030204" pitchFamily="34" charset="0"/>
              </a:rPr>
              <a:t>:</a:t>
            </a:r>
            <a:endParaRPr lang="bg-BG" sz="60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Sitka Display" panose="02000505000000020004" pitchFamily="2" charset="0"/>
              <a:cs typeface="Calibri bold" panose="020F07020304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131" y="2009646"/>
            <a:ext cx="5752840" cy="4687263"/>
          </a:xfrm>
          <a:ln>
            <a:noFill/>
          </a:ln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en-US" sz="32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Целта на проекта е да се </a:t>
            </a:r>
            <a:r>
              <a:rPr lang="en-US" sz="32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създаде</a:t>
            </a:r>
            <a:r>
              <a:rPr lang="en-US" sz="32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добре</a:t>
            </a:r>
            <a:r>
              <a:rPr lang="en-US" sz="32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структурирана</a:t>
            </a:r>
            <a:r>
              <a:rPr lang="en-US" sz="32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релационна</a:t>
            </a:r>
            <a:r>
              <a:rPr lang="en-US" sz="32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база</a:t>
            </a:r>
            <a:r>
              <a:rPr lang="en-US" sz="32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данни</a:t>
            </a:r>
            <a:r>
              <a:rPr lang="en-US" sz="32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за</a:t>
            </a:r>
            <a:r>
              <a:rPr lang="en-US" sz="32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управление</a:t>
            </a:r>
            <a:r>
              <a:rPr lang="en-US" sz="32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на </a:t>
            </a:r>
            <a:r>
              <a:rPr lang="en-US" sz="32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информацията</a:t>
            </a:r>
            <a:r>
              <a:rPr lang="en-US" sz="32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32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свързана</a:t>
            </a:r>
            <a:r>
              <a:rPr lang="bg-BG" sz="32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с документирането и улеснено управление на затвор</a:t>
            </a:r>
            <a:r>
              <a:rPr lang="en-US" sz="32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 </a:t>
            </a:r>
            <a:r>
              <a:rPr lang="en-US" sz="32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Системата</a:t>
            </a:r>
            <a:r>
              <a:rPr lang="en-US" sz="32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3200" dirty="0" err="1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предоставя</a:t>
            </a:r>
            <a:r>
              <a:rPr lang="en-US" sz="3200" dirty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bg-BG" sz="3200" dirty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подходящи </a:t>
            </a:r>
            <a:r>
              <a:rPr lang="bg-BG" sz="3200" dirty="0" err="1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интерфеиси</a:t>
            </a:r>
            <a:r>
              <a:rPr lang="bg-BG" sz="3200" dirty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за добавяне, изтриване и обработка на данни.</a:t>
            </a:r>
            <a:endParaRPr lang="bg-BG" sz="32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bg-BG" dirty="0"/>
          </a:p>
          <a:p>
            <a:endParaRPr lang="bg-B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142" y="1994280"/>
            <a:ext cx="4702629" cy="470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90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985" y="2191658"/>
            <a:ext cx="4948101" cy="1886856"/>
          </a:xfrm>
          <a:solidFill>
            <a:schemeClr val="bg2">
              <a:lumMod val="50000"/>
            </a:schemeClr>
          </a:solidFill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62500" lnSpcReduction="20000"/>
          </a:bodyPr>
          <a:lstStyle/>
          <a:p>
            <a:pPr marL="0" indent="0">
              <a:spcBef>
                <a:spcPts val="1200"/>
              </a:spcBef>
              <a:buNone/>
            </a:pPr>
            <a:endParaRPr lang="en-US" sz="500" u="sng" dirty="0"/>
          </a:p>
          <a:p>
            <a:pPr marL="0" indent="0">
              <a:spcBef>
                <a:spcPts val="1200"/>
              </a:spcBef>
              <a:buNone/>
            </a:pPr>
            <a:r>
              <a:rPr lang="bg-BG" sz="3500" u="sng" dirty="0"/>
              <a:t>Емануил: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ru-RU" dirty="0" err="1"/>
              <a:t>Създаване</a:t>
            </a:r>
            <a:r>
              <a:rPr lang="ru-RU" dirty="0"/>
              <a:t> на интерфейса на </a:t>
            </a:r>
            <a:r>
              <a:rPr lang="ru-RU" dirty="0" err="1" smtClean="0"/>
              <a:t>приложението</a:t>
            </a:r>
            <a:endParaRPr lang="ru-RU" dirty="0" smtClean="0"/>
          </a:p>
          <a:p>
            <a:pPr lvl="0">
              <a:buFont typeface="Wingdings" panose="05000000000000000000" pitchFamily="2" charset="2"/>
              <a:buChar char="ü"/>
            </a:pPr>
            <a:r>
              <a:rPr lang="ru-RU" dirty="0" err="1"/>
              <a:t>Създаване</a:t>
            </a:r>
            <a:r>
              <a:rPr lang="ru-RU" dirty="0"/>
              <a:t> на </a:t>
            </a:r>
            <a:r>
              <a:rPr lang="ru-RU" dirty="0" err="1"/>
              <a:t>конзолното</a:t>
            </a:r>
            <a:r>
              <a:rPr lang="ru-RU" dirty="0"/>
              <a:t> управление на </a:t>
            </a:r>
            <a:r>
              <a:rPr lang="ru-RU" dirty="0" err="1" smtClean="0"/>
              <a:t>приложението</a:t>
            </a:r>
            <a:endParaRPr lang="ru-RU" dirty="0" smtClean="0"/>
          </a:p>
          <a:p>
            <a:pPr lvl="0">
              <a:buFont typeface="Wingdings" panose="05000000000000000000" pitchFamily="2" charset="2"/>
              <a:buChar char="ü"/>
            </a:pPr>
            <a:r>
              <a:rPr lang="ru-RU" dirty="0" err="1"/>
              <a:t>Попълване</a:t>
            </a:r>
            <a:r>
              <a:rPr lang="ru-RU" dirty="0"/>
              <a:t> на </a:t>
            </a:r>
            <a:r>
              <a:rPr lang="ru-RU" dirty="0" err="1"/>
              <a:t>таблиците</a:t>
            </a:r>
            <a:r>
              <a:rPr lang="ru-RU" dirty="0"/>
              <a:t> в БД с информация</a:t>
            </a:r>
            <a:endParaRPr lang="bg-BG" dirty="0"/>
          </a:p>
          <a:p>
            <a:pPr marL="45720" indent="0">
              <a:buNone/>
            </a:pPr>
            <a:endParaRPr lang="bg-BG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715278" y="3788132"/>
            <a:ext cx="1156218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14131" y="420208"/>
            <a:ext cx="11562183" cy="1356360"/>
          </a:xfrm>
          <a:solidFill>
            <a:schemeClr val="tx1">
              <a:lumMod val="75000"/>
              <a:lumOff val="2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bg-BG" sz="60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itka Display" panose="02000505000000020004" pitchFamily="2" charset="0"/>
                <a:cs typeface="Calibri bold" panose="020F0702030404030204" pitchFamily="34" charset="0"/>
              </a:rPr>
              <a:t>РАЗПРЕДЕЛЕНИЕ НА РОЛИТЕ</a:t>
            </a:r>
            <a:r>
              <a:rPr lang="en-US" sz="60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itka Display" panose="02000505000000020004" pitchFamily="2" charset="0"/>
                <a:cs typeface="Calibri bold" panose="020F0702030404030204" pitchFamily="34" charset="0"/>
              </a:rPr>
              <a:t>:</a:t>
            </a:r>
            <a:endParaRPr lang="bg-BG" sz="60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Sitka Display" panose="02000505000000020004" pitchFamily="2" charset="0"/>
              <a:cs typeface="Calibri bold" panose="020F0702030404030204" pitchFamily="34" charset="0"/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6351270" y="2184402"/>
            <a:ext cx="4948101" cy="1886856"/>
          </a:xfrm>
          <a:prstGeom prst="rect">
            <a:avLst/>
          </a:prstGeom>
          <a:solidFill>
            <a:schemeClr val="bg2">
              <a:lumMod val="50000"/>
            </a:schemeClr>
          </a:solidFill>
          <a:ln w="3810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endParaRPr lang="en-US" sz="500" u="sng" dirty="0"/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bg-BG" sz="3500" u="sng" dirty="0"/>
              <a:t>Жасмина: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bg-BG" dirty="0"/>
              <a:t>Писане на компонентни </a:t>
            </a:r>
            <a:r>
              <a:rPr lang="bg-BG" dirty="0" smtClean="0"/>
              <a:t>тестов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bg-BG" dirty="0" smtClean="0"/>
              <a:t>Конструиране </a:t>
            </a:r>
            <a:r>
              <a:rPr lang="bg-BG" dirty="0"/>
              <a:t>на заявки в кодовата </a:t>
            </a:r>
            <a:r>
              <a:rPr lang="bg-BG" dirty="0" smtClean="0"/>
              <a:t>част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bg-BG" dirty="0" smtClean="0"/>
              <a:t>Изготвяне на документация и презентация</a:t>
            </a:r>
          </a:p>
          <a:p>
            <a:pPr>
              <a:buFont typeface="Wingdings" panose="05000000000000000000" pitchFamily="2" charset="2"/>
              <a:buChar char="ü"/>
            </a:pPr>
            <a:endParaRPr lang="bg-BG" dirty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3621171" y="4450062"/>
            <a:ext cx="4948101" cy="1886856"/>
          </a:xfrm>
          <a:prstGeom prst="rect">
            <a:avLst/>
          </a:prstGeom>
          <a:solidFill>
            <a:schemeClr val="bg2">
              <a:lumMod val="50000"/>
            </a:schemeClr>
          </a:solidFill>
          <a:ln w="3810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endParaRPr lang="en-US" sz="500" u="sng" dirty="0"/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bg-BG" sz="3500" u="sng" dirty="0"/>
              <a:t>Момчил: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 err="1"/>
              <a:t>Създаване</a:t>
            </a:r>
            <a:r>
              <a:rPr lang="ru-RU" dirty="0"/>
              <a:t> на </a:t>
            </a:r>
            <a:r>
              <a:rPr lang="ru-RU" dirty="0" err="1"/>
              <a:t>логиката</a:t>
            </a:r>
            <a:r>
              <a:rPr lang="ru-RU" dirty="0"/>
              <a:t> на </a:t>
            </a:r>
            <a:r>
              <a:rPr lang="ru-RU" dirty="0" err="1" smtClean="0"/>
              <a:t>приложението</a:t>
            </a:r>
            <a:endParaRPr lang="ru-RU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ru-RU" dirty="0" err="1"/>
              <a:t>Свързване</a:t>
            </a:r>
            <a:r>
              <a:rPr lang="ru-RU" dirty="0"/>
              <a:t> на </a:t>
            </a:r>
            <a:r>
              <a:rPr lang="ru-RU" dirty="0" err="1"/>
              <a:t>таблиците</a:t>
            </a:r>
            <a:r>
              <a:rPr lang="ru-RU" dirty="0"/>
              <a:t> в </a:t>
            </a:r>
            <a:r>
              <a:rPr lang="ru-RU" dirty="0" err="1" smtClean="0"/>
              <a:t>релация</a:t>
            </a:r>
            <a:endParaRPr lang="ru-RU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bg-BG" dirty="0" smtClean="0"/>
              <a:t>Графичен </a:t>
            </a:r>
            <a:r>
              <a:rPr lang="bg-BG" dirty="0"/>
              <a:t>дизайн на приложението </a:t>
            </a:r>
            <a:endParaRPr lang="bg-BG" dirty="0" smtClean="0"/>
          </a:p>
          <a:p>
            <a:pPr>
              <a:buFont typeface="Wingdings" panose="05000000000000000000" pitchFamily="2" charset="2"/>
              <a:buChar char="ü"/>
            </a:pPr>
            <a:endParaRPr lang="bg-BG" dirty="0"/>
          </a:p>
          <a:p>
            <a:pPr>
              <a:buFont typeface="Wingdings" panose="05000000000000000000" pitchFamily="2" charset="2"/>
              <a:buChar char="ü"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009292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2115874"/>
            <a:ext cx="10482943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1400"/>
              </a:spcBef>
              <a:buClr>
                <a:schemeClr val="bg1"/>
              </a:buClr>
              <a:buSzPct val="80000"/>
              <a:buFont typeface="Wingdings" panose="05000000000000000000" pitchFamily="2" charset="2"/>
              <a:buChar char="ü"/>
            </a:pPr>
            <a:r>
              <a:rPr lang="ru-RU" sz="32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Обсъждане и събиране на идеи за проекта</a:t>
            </a:r>
          </a:p>
          <a:p>
            <a:pPr lvl="0">
              <a:spcBef>
                <a:spcPts val="1400"/>
              </a:spcBef>
              <a:buClr>
                <a:schemeClr val="bg1"/>
              </a:buClr>
              <a:buSzPct val="80000"/>
              <a:buFont typeface="Wingdings" panose="05000000000000000000" pitchFamily="2" charset="2"/>
              <a:buChar char="ü"/>
            </a:pPr>
            <a:r>
              <a:rPr lang="ru-RU" sz="32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Обсъждане</a:t>
            </a:r>
            <a:r>
              <a:rPr lang="ru-RU" sz="32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на дизайн и </a:t>
            </a:r>
            <a:r>
              <a:rPr lang="ru-RU" sz="32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релации</a:t>
            </a:r>
            <a:r>
              <a:rPr lang="ru-RU" sz="32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между </a:t>
            </a:r>
            <a:r>
              <a:rPr lang="ru-RU" sz="32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таблиците</a:t>
            </a:r>
            <a:r>
              <a:rPr lang="ru-RU" sz="32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в БД</a:t>
            </a:r>
          </a:p>
          <a:p>
            <a:pPr lvl="0">
              <a:spcBef>
                <a:spcPts val="1400"/>
              </a:spcBef>
              <a:buClr>
                <a:schemeClr val="bg1"/>
              </a:buClr>
              <a:buSzPct val="80000"/>
              <a:buFont typeface="Wingdings" panose="05000000000000000000" pitchFamily="2" charset="2"/>
              <a:buChar char="ü"/>
            </a:pPr>
            <a:r>
              <a:rPr lang="ru-RU" sz="3200" dirty="0" err="1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Създаване</a:t>
            </a:r>
            <a:r>
              <a:rPr lang="ru-RU" sz="3200" dirty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ru-RU" sz="3200" dirty="0" err="1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въвеждане</a:t>
            </a:r>
            <a:r>
              <a:rPr lang="ru-RU" sz="3200" dirty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и </a:t>
            </a:r>
            <a:r>
              <a:rPr lang="ru-RU" sz="3200" dirty="0" err="1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конструиране</a:t>
            </a:r>
            <a:r>
              <a:rPr lang="ru-RU" sz="3200" dirty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на заявки </a:t>
            </a:r>
            <a:r>
              <a:rPr lang="ru-RU" sz="3200" dirty="0" err="1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към</a:t>
            </a:r>
            <a:r>
              <a:rPr lang="ru-RU" sz="3200" dirty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БД</a:t>
            </a:r>
          </a:p>
          <a:p>
            <a:pPr lvl="0">
              <a:spcBef>
                <a:spcPts val="1400"/>
              </a:spcBef>
              <a:buClr>
                <a:schemeClr val="bg1"/>
              </a:buClr>
              <a:buSzPct val="80000"/>
              <a:buFont typeface="Wingdings" panose="05000000000000000000" pitchFamily="2" charset="2"/>
              <a:buChar char="ü"/>
            </a:pPr>
            <a:r>
              <a:rPr lang="bg-BG" sz="32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Създаване на проект във </a:t>
            </a:r>
            <a:r>
              <a:rPr lang="en-US" sz="32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Visual </a:t>
            </a:r>
            <a:r>
              <a:rPr lang="en-US" sz="3200" dirty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Studio</a:t>
            </a:r>
            <a:endParaRPr lang="bg-BG" sz="3200" dirty="0" smtClean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Bef>
                <a:spcPts val="1400"/>
              </a:spcBef>
              <a:buClr>
                <a:schemeClr val="bg1"/>
              </a:buClr>
              <a:buSzPct val="80000"/>
              <a:buFont typeface="Wingdings" panose="05000000000000000000" pitchFamily="2" charset="2"/>
              <a:buChar char="ü"/>
            </a:pPr>
            <a:r>
              <a:rPr lang="bg-BG" sz="32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Използване на трислойна архитектура</a:t>
            </a:r>
            <a:endParaRPr lang="en-US" sz="32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Bef>
                <a:spcPts val="1400"/>
              </a:spcBef>
              <a:buClr>
                <a:schemeClr val="bg1"/>
              </a:buClr>
              <a:buSzPct val="80000"/>
              <a:buFont typeface="Wingdings" panose="05000000000000000000" pitchFamily="2" charset="2"/>
              <a:buChar char="ü"/>
            </a:pPr>
            <a:r>
              <a:rPr lang="ru-RU" sz="32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Свързване</a:t>
            </a:r>
            <a:r>
              <a:rPr lang="ru-RU" sz="32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на БД с проекта</a:t>
            </a:r>
          </a:p>
          <a:p>
            <a:pPr>
              <a:spcBef>
                <a:spcPts val="1400"/>
              </a:spcBef>
              <a:buClr>
                <a:schemeClr val="bg1"/>
              </a:buClr>
              <a:buSzPct val="80000"/>
              <a:buFont typeface="Wingdings" panose="05000000000000000000" pitchFamily="2" charset="2"/>
              <a:buChar char="ü"/>
            </a:pPr>
            <a:r>
              <a:rPr lang="bg-BG" sz="32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Конструиране на заявки към БД</a:t>
            </a:r>
            <a:endParaRPr lang="ru-RU" sz="32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lvl="0">
              <a:spcBef>
                <a:spcPts val="1400"/>
              </a:spcBef>
              <a:buClr>
                <a:schemeClr val="bg1"/>
              </a:buClr>
              <a:buSzPct val="80000"/>
              <a:buFont typeface="Wingdings" panose="05000000000000000000" pitchFamily="2" charset="2"/>
              <a:buChar char="ü"/>
            </a:pPr>
            <a:r>
              <a:rPr lang="ru-RU" sz="3200" dirty="0" err="1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Създаване</a:t>
            </a:r>
            <a:r>
              <a:rPr lang="ru-RU" sz="3200" dirty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на </a:t>
            </a:r>
            <a:r>
              <a:rPr lang="ru-RU" sz="3200" dirty="0" err="1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конзолен</a:t>
            </a:r>
            <a:r>
              <a:rPr lang="ru-RU" sz="3200" dirty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ru-RU" sz="3200" dirty="0" err="1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интерфеис</a:t>
            </a:r>
            <a:r>
              <a:rPr lang="ru-RU" sz="32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ru-RU" sz="3200" dirty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и на </a:t>
            </a:r>
            <a:r>
              <a:rPr lang="ru-RU" sz="3200" dirty="0" err="1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графичен</a:t>
            </a:r>
            <a:r>
              <a:rPr lang="ru-RU" sz="3200" dirty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ru-RU" sz="3200" dirty="0" err="1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интерфеис</a:t>
            </a:r>
            <a:endParaRPr lang="ru-RU" sz="3200" dirty="0" smtClean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spcBef>
                <a:spcPts val="1400"/>
              </a:spcBef>
              <a:buClr>
                <a:schemeClr val="bg1"/>
              </a:buClr>
              <a:buSzPct val="80000"/>
              <a:buFont typeface="Wingdings" panose="05000000000000000000" pitchFamily="2" charset="2"/>
              <a:buChar char="ü"/>
            </a:pPr>
            <a:r>
              <a:rPr lang="bg-BG" sz="32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Писане на компонентни тестове и </a:t>
            </a:r>
            <a:r>
              <a:rPr lang="bg-BG" sz="32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дебъгинг</a:t>
            </a:r>
            <a:endParaRPr lang="ru-RU" sz="32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lvl="0">
              <a:spcBef>
                <a:spcPts val="1400"/>
              </a:spcBef>
              <a:buClr>
                <a:schemeClr val="bg1"/>
              </a:buClr>
              <a:buSzPct val="80000"/>
              <a:buFont typeface="Wingdings" panose="05000000000000000000" pitchFamily="2" charset="2"/>
              <a:buChar char="ü"/>
            </a:pPr>
            <a:r>
              <a:rPr lang="ru-RU" sz="3200" dirty="0" err="1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Писане</a:t>
            </a:r>
            <a:r>
              <a:rPr lang="ru-RU" sz="3200" dirty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ru-RU" sz="32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на документация</a:t>
            </a:r>
          </a:p>
          <a:p>
            <a:pPr lvl="0">
              <a:spcBef>
                <a:spcPts val="1400"/>
              </a:spcBef>
              <a:buClr>
                <a:schemeClr val="bg1"/>
              </a:buClr>
              <a:buSzPct val="80000"/>
              <a:buFont typeface="Wingdings" panose="05000000000000000000" pitchFamily="2" charset="2"/>
              <a:buChar char="ü"/>
            </a:pPr>
            <a:r>
              <a:rPr lang="ru-RU" sz="32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Изготвяне</a:t>
            </a:r>
            <a:r>
              <a:rPr lang="ru-RU" sz="32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на презентация</a:t>
            </a:r>
          </a:p>
          <a:p>
            <a:pPr lvl="0">
              <a:buFont typeface="Wingdings" panose="05000000000000000000" pitchFamily="2" charset="2"/>
              <a:buChar char="ü"/>
            </a:pPr>
            <a:endParaRPr lang="bg-BG" dirty="0"/>
          </a:p>
          <a:p>
            <a:endParaRPr lang="bg-BG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14131" y="420208"/>
            <a:ext cx="11562183" cy="1356360"/>
          </a:xfrm>
          <a:solidFill>
            <a:schemeClr val="tx1">
              <a:lumMod val="75000"/>
              <a:lumOff val="2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bg-BG" sz="54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itka Display" panose="02000505000000020004" pitchFamily="2" charset="0"/>
                <a:cs typeface="Calibri bold" panose="020F0702030404030204" pitchFamily="34" charset="0"/>
              </a:rPr>
              <a:t>ОСНОВНИ ЕТАПИ В РЕАЛИЗАЦИЯТА</a:t>
            </a:r>
            <a:r>
              <a:rPr lang="en-US" sz="54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itka Display" panose="02000505000000020004" pitchFamily="2" charset="0"/>
                <a:cs typeface="Calibri bold" panose="020F0702030404030204" pitchFamily="34" charset="0"/>
              </a:rPr>
              <a:t>:</a:t>
            </a:r>
            <a:endParaRPr lang="bg-BG" sz="54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Sitka Display" panose="02000505000000020004" pitchFamily="2" charset="0"/>
              <a:cs typeface="Calibri bold" panose="020F07020304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7081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Картина 9">
            <a:extLst>
              <a:ext uri="{FF2B5EF4-FFF2-40B4-BE49-F238E27FC236}">
                <a16:creationId xmlns:a16="http://schemas.microsoft.com/office/drawing/2014/main" id="{B1C7AB22-6E21-4CA0-964E-6B3ED91AB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833" y="4080840"/>
            <a:ext cx="2985733" cy="2239300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314131" y="420208"/>
            <a:ext cx="11562183" cy="13563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bg-BG" sz="54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itka Display" panose="02000505000000020004" pitchFamily="2" charset="0"/>
                <a:cs typeface="Calibri bold" panose="020F0702030404030204" pitchFamily="34" charset="0"/>
              </a:rPr>
              <a:t>ИЗПОЛЗВАНИ ТЕХНОЛОГИИ</a:t>
            </a:r>
            <a:r>
              <a:rPr lang="en-US" sz="54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itka Display" panose="02000505000000020004" pitchFamily="2" charset="0"/>
                <a:cs typeface="Calibri bold" panose="020F0702030404030204" pitchFamily="34" charset="0"/>
              </a:rPr>
              <a:t>:</a:t>
            </a:r>
            <a:endParaRPr lang="bg-BG" sz="54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Sitka Display" panose="02000505000000020004" pitchFamily="2" charset="0"/>
              <a:cs typeface="Calibri bold" panose="020F0702030404030204" pitchFamily="34" charset="0"/>
            </a:endParaRPr>
          </a:p>
        </p:txBody>
      </p:sp>
      <p:pic>
        <p:nvPicPr>
          <p:cNvPr id="2050" name="Picture 2" descr="File:Microsoft PowerPoint Logo.png - Wikimedia Common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147" y="1844436"/>
            <a:ext cx="2236404" cy="2236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Word File Icon PNG Transparent Background, Free Download #4001 -  FreeIcons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8197" y="2066051"/>
            <a:ext cx="1866871" cy="1866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QL Server 2025 &amp; SSMS: New Bling – InfoAdvisor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00" y="2249106"/>
            <a:ext cx="1500759" cy="1500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8812" y="2295888"/>
            <a:ext cx="2189163" cy="1333500"/>
          </a:xfrm>
          <a:prstGeom prst="rect">
            <a:avLst/>
          </a:prstGeom>
        </p:spPr>
      </p:pic>
      <p:pic>
        <p:nvPicPr>
          <p:cNvPr id="1030" name="Picture 6" descr="Visual Studio Logo, symbol, meaning, history, PNG, brand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4693" y="4465986"/>
            <a:ext cx="3145186" cy="1769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QA Automation Testing Services|Automation Testing Company in India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00" y="4080840"/>
            <a:ext cx="2441921" cy="2441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4424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5F9F5269-C8A0-485D-84CD-F25168172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572193" y="2108381"/>
            <a:ext cx="10515600" cy="435133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prisoners – </a:t>
            </a:r>
            <a:r>
              <a:rPr lang="bg-BG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съдържа: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prisoner_id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first_name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last_name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EGN,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date_of_birth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gender,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crime_id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sentence_months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sentence_start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sentence_end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cell_id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released,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prison_block</a:t>
            </a:r>
            <a:endParaRPr lang="en-US" sz="18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visits – </a:t>
            </a:r>
            <a:r>
              <a:rPr lang="bg-BG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съдържа: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visits_id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prisoner_id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visitor_first_name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visitor_last_name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visitor_relation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visit_date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duration_minuits</a:t>
            </a:r>
            <a:endParaRPr lang="en-US" sz="18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crimes – </a:t>
            </a:r>
            <a:r>
              <a:rPr lang="bg-BG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съдържа: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crime_id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crime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medical_record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– </a:t>
            </a:r>
            <a:r>
              <a:rPr lang="bg-BG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съдържа: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record_id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prisoner_id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diagnosis, treatment,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treatment_days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doctor_first_name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doctor_last_name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record_date</a:t>
            </a:r>
            <a:endParaRPr lang="en-US" sz="18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cells– </a:t>
            </a:r>
            <a:r>
              <a:rPr lang="bg-BG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съдържа: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cell_id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prison_block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capacity, kind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punishments – </a:t>
            </a:r>
            <a:r>
              <a:rPr lang="bg-BG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съдържа: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punishments_id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prisoners_id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reason,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punishment_days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start_date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end_date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punishment_type</a:t>
            </a:r>
            <a:endParaRPr lang="en-US" sz="18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prison_blocks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– </a:t>
            </a:r>
            <a:r>
              <a:rPr lang="bg-BG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съдържа: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prison_block_id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prison_block</a:t>
            </a:r>
            <a:endParaRPr lang="en-US" sz="18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guards – </a:t>
            </a:r>
            <a:r>
              <a:rPr lang="bg-BG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съдържа: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guards_id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first_name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last_name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guard_rank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phone,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shift_id</a:t>
            </a:r>
            <a:endParaRPr lang="en-US" sz="18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shifts – </a:t>
            </a:r>
            <a:r>
              <a:rPr lang="bg-BG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съдържа: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shift_id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shift_name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start_time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end_time</a:t>
            </a:r>
            <a:r>
              <a:rPr lang="en-US" sz="18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prison_block</a:t>
            </a:r>
            <a:endParaRPr lang="en-US" sz="18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14131" y="420208"/>
            <a:ext cx="11562183" cy="13563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bg-BG" sz="54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itka Display" panose="02000505000000020004" pitchFamily="2" charset="0"/>
                <a:cs typeface="Calibri bold" panose="020F0702030404030204" pitchFamily="34" charset="0"/>
              </a:rPr>
              <a:t>РЕАЛИЗАЦИЯ НА ПРИЛОЖЕНИЕТО:</a:t>
            </a:r>
          </a:p>
        </p:txBody>
      </p:sp>
    </p:spTree>
    <p:extLst>
      <p:ext uri="{BB962C8B-B14F-4D97-AF65-F5344CB8AC3E}">
        <p14:creationId xmlns:p14="http://schemas.microsoft.com/office/powerpoint/2010/main" val="1021016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17A80EB-11E7-4655-AA16-0D3D11D8E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491" y="2766218"/>
            <a:ext cx="5257800" cy="1325563"/>
          </a:xfrm>
          <a:solidFill>
            <a:schemeClr val="tx1">
              <a:lumMod val="75000"/>
              <a:lumOff val="2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bg-BG" sz="48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itka Display" panose="02000505000000020004" pitchFamily="2" charset="0"/>
                <a:cs typeface="Calibri bold" panose="020F0702030404030204" pitchFamily="34" charset="0"/>
              </a:rPr>
              <a:t>РЕАЛИЗАЦИЯ НА ПРИЛОЖЕНИЕТО: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091281-3EC5-4459-20B0-E50FB17611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55856" y="595377"/>
            <a:ext cx="6129142" cy="58917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9056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17A80EB-11E7-4655-AA16-0D3D11D8E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341" y="356393"/>
            <a:ext cx="5257800" cy="1325563"/>
          </a:xfrm>
          <a:solidFill>
            <a:schemeClr val="tx1">
              <a:lumMod val="75000"/>
              <a:lumOff val="2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bg-BG" sz="48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itka Display" panose="02000505000000020004" pitchFamily="2" charset="0"/>
                <a:cs typeface="Calibri bold" panose="020F0702030404030204" pitchFamily="34" charset="0"/>
              </a:rPr>
              <a:t>РЕАЛИЗАЦИЯ НА ПРИЛОЖЕНИЕТО:</a:t>
            </a:r>
          </a:p>
        </p:txBody>
      </p:sp>
      <p:sp>
        <p:nvSpPr>
          <p:cNvPr id="5" name="Rectangle 4"/>
          <p:cNvSpPr/>
          <p:nvPr/>
        </p:nvSpPr>
        <p:spPr>
          <a:xfrm>
            <a:off x="584084" y="2024986"/>
            <a:ext cx="438896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bg-BG" sz="2000" dirty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За </a:t>
            </a:r>
            <a:r>
              <a:rPr lang="bg-BG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кодовата част използваме </a:t>
            </a:r>
            <a:r>
              <a:rPr lang="en-US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Visual Studio, </a:t>
            </a:r>
            <a:r>
              <a:rPr lang="bg-BG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а класовете ни са разпределени в следните папки:</a:t>
            </a:r>
          </a:p>
          <a:p>
            <a:pPr marL="342900" lvl="1" indent="-342900" algn="just"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Business</a:t>
            </a:r>
            <a:endParaRPr lang="bg-BG" sz="2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lvl="1" indent="-342900" algn="just"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</a:t>
            </a:r>
          </a:p>
          <a:p>
            <a:pPr marL="342900" lvl="1" indent="-342900" algn="just"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Models</a:t>
            </a:r>
          </a:p>
          <a:p>
            <a:pPr marL="342900" lvl="1" indent="-342900" algn="just"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Presentation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804" y="356393"/>
            <a:ext cx="2499577" cy="606604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0044" y="1194666"/>
            <a:ext cx="2644369" cy="438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656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17A80EB-11E7-4655-AA16-0D3D11D8E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665" y="2822507"/>
            <a:ext cx="5024928" cy="1325563"/>
          </a:xfrm>
          <a:solidFill>
            <a:schemeClr val="tx1">
              <a:lumMod val="75000"/>
              <a:lumOff val="2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bg-BG" sz="48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itka Display" panose="02000505000000020004" pitchFamily="2" charset="0"/>
                <a:cs typeface="Calibri bold" panose="020F0702030404030204" pitchFamily="34" charset="0"/>
              </a:rPr>
              <a:t>РЕАЛИЗАЦИЯ НА ПРИЛОЖЕНИЕТО: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729"/>
          <a:stretch/>
        </p:blipFill>
        <p:spPr>
          <a:xfrm>
            <a:off x="6646141" y="356393"/>
            <a:ext cx="4459662" cy="62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385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17A80EB-11E7-4655-AA16-0D3D11D8E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341" y="356393"/>
            <a:ext cx="8064470" cy="1325563"/>
          </a:xfrm>
          <a:solidFill>
            <a:schemeClr val="tx1">
              <a:lumMod val="75000"/>
              <a:lumOff val="2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bg-BG" sz="4800" dirty="0" smtClean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itka Display" panose="02000505000000020004" pitchFamily="2" charset="0"/>
                <a:cs typeface="Calibri bold" panose="020F0702030404030204" pitchFamily="34" charset="0"/>
              </a:rPr>
              <a:t>КОНЗОЛНО ПРИЛОЖЕНИЕ:</a:t>
            </a:r>
            <a:endParaRPr lang="bg-BG" sz="48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Sitka Display" panose="02000505000000020004" pitchFamily="2" charset="0"/>
              <a:cs typeface="Calibri bold" panose="020F07020304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5341" y="2426339"/>
            <a:ext cx="376139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bg-BG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Главно меню – при въвеждане на съответната цифра, която отговаря на операция от 1 до </a:t>
            </a:r>
            <a:r>
              <a:rPr lang="en-US" sz="2000" dirty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10 </a:t>
            </a:r>
            <a:r>
              <a:rPr lang="bg-BG" sz="2000" dirty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отварят </a:t>
            </a:r>
            <a:r>
              <a:rPr lang="bg-BG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менютата със заявките към </a:t>
            </a:r>
            <a:r>
              <a:rPr lang="bg-BG" sz="2000" dirty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съответните</a:t>
            </a:r>
            <a:r>
              <a:rPr lang="en-US" sz="2000" dirty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cells, crimes, guards, </a:t>
            </a:r>
            <a:r>
              <a:rPr lang="en-US" sz="2000" dirty="0" err="1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medical_records</a:t>
            </a:r>
            <a:r>
              <a:rPr lang="en-US" sz="2000" dirty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2000" dirty="0" err="1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prison_blocks</a:t>
            </a:r>
            <a:r>
              <a:rPr lang="en-US" sz="2000" dirty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prisoners, punishments, shifts, visits</a:t>
            </a:r>
            <a:r>
              <a:rPr lang="bg-BG" sz="2000" dirty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bg-BG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при въвеждане на </a:t>
            </a:r>
            <a:r>
              <a:rPr lang="en-US" sz="2000" dirty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10</a:t>
            </a:r>
            <a:r>
              <a:rPr lang="bg-BG" sz="2000" dirty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bg-BG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се излиза от приложението</a:t>
            </a:r>
            <a:endParaRPr lang="en-US" sz="2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743" y="2176380"/>
            <a:ext cx="7483488" cy="390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655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17A80EB-11E7-4655-AA16-0D3D11D8E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341" y="356393"/>
            <a:ext cx="8064470" cy="1325563"/>
          </a:xfrm>
          <a:solidFill>
            <a:schemeClr val="tx1">
              <a:lumMod val="75000"/>
              <a:lumOff val="2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bg-BG" sz="4800" dirty="0" smtClean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itka Display" panose="02000505000000020004" pitchFamily="2" charset="0"/>
                <a:cs typeface="Calibri bold" panose="020F0702030404030204" pitchFamily="34" charset="0"/>
              </a:rPr>
              <a:t>ГРАФИЧЕН ИНТЕРФЕИС:</a:t>
            </a:r>
            <a:endParaRPr lang="bg-BG" sz="48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Sitka Display" panose="02000505000000020004" pitchFamily="2" charset="0"/>
              <a:cs typeface="Calibri bold" panose="020F07020304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4723" y="2284445"/>
            <a:ext cx="338732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bg-BG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В началното меню се избира таблицата, която ще се визуализира или ще се извършват другите заявки, след което се появяват текстови полета с </a:t>
            </a:r>
            <a:r>
              <a:rPr lang="bg-BG" sz="2000" dirty="0" err="1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обозначителни</a:t>
            </a:r>
            <a:r>
              <a:rPr lang="bg-BG" sz="2000" dirty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етикети и </a:t>
            </a:r>
            <a:r>
              <a:rPr lang="bg-BG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под тях </a:t>
            </a:r>
            <a:r>
              <a:rPr lang="bg-BG" sz="2000" dirty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бутон</a:t>
            </a:r>
            <a:r>
              <a:rPr lang="bg-BG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и</a:t>
            </a:r>
            <a:r>
              <a:rPr lang="bg-BG" sz="2000" dirty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bg-BG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за визуализиране на </a:t>
            </a:r>
            <a:r>
              <a:rPr lang="bg-BG" sz="2000" dirty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всички данни от таблицата, </a:t>
            </a:r>
            <a:r>
              <a:rPr lang="bg-BG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добавяне</a:t>
            </a:r>
            <a:r>
              <a:rPr lang="bg-BG" sz="2000" dirty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редакция, избиране </a:t>
            </a:r>
            <a:r>
              <a:rPr lang="bg-BG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и изтриване на </a:t>
            </a:r>
            <a:r>
              <a:rPr lang="bg-BG" sz="2000" dirty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данни.</a:t>
            </a:r>
            <a:endParaRPr lang="en-US" sz="2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0462" y="2206846"/>
            <a:ext cx="7289434" cy="394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147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17A80EB-11E7-4655-AA16-0D3D11D8E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294" y="276556"/>
            <a:ext cx="10455814" cy="1325563"/>
          </a:xfrm>
          <a:solidFill>
            <a:schemeClr val="tx1">
              <a:lumMod val="75000"/>
              <a:lumOff val="2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bg-BG" sz="48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itka Display" panose="02000505000000020004" pitchFamily="2" charset="0"/>
                <a:cs typeface="Calibri bold" panose="020F0702030404030204" pitchFamily="34" charset="0"/>
              </a:rPr>
              <a:t>РЕАЛИЗАЦИЯ НА ПРИЛОЖЕНИЕТО: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299" y="1833170"/>
            <a:ext cx="8819804" cy="476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52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17A80EB-11E7-4655-AA16-0D3D11D8E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050" y="2846069"/>
            <a:ext cx="5241059" cy="1325563"/>
          </a:xfrm>
          <a:solidFill>
            <a:schemeClr val="tx1">
              <a:lumMod val="75000"/>
              <a:lumOff val="2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bg-BG" sz="48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itka Display" panose="02000505000000020004" pitchFamily="2" charset="0"/>
                <a:cs typeface="Calibri bold" panose="020F0702030404030204" pitchFamily="34" charset="0"/>
              </a:rPr>
              <a:t>РЕАЛИЗАЦИЯ НА ПРИЛОЖЕНИЕТО: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0581" y="507076"/>
            <a:ext cx="2009505" cy="600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9253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17A80EB-11E7-4655-AA16-0D3D11D8E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294" y="276556"/>
            <a:ext cx="10455814" cy="1325563"/>
          </a:xfrm>
          <a:solidFill>
            <a:schemeClr val="tx1">
              <a:lumMod val="75000"/>
              <a:lumOff val="2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bg-BG" sz="48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itka Display" panose="02000505000000020004" pitchFamily="2" charset="0"/>
                <a:cs typeface="Calibri bold" panose="020F0702030404030204" pitchFamily="34" charset="0"/>
              </a:rPr>
              <a:t>РЕАЛИЗАЦИЯ НА ПРИЛОЖЕНИЕТО:</a:t>
            </a:r>
          </a:p>
        </p:txBody>
      </p:sp>
      <p:sp>
        <p:nvSpPr>
          <p:cNvPr id="2" name="Rectangle 1"/>
          <p:cNvSpPr/>
          <p:nvPr/>
        </p:nvSpPr>
        <p:spPr>
          <a:xfrm>
            <a:off x="802294" y="1841755"/>
            <a:ext cx="3724102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В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рамките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на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нашия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проект </a:t>
            </a:r>
            <a:r>
              <a:rPr lang="ru-RU" sz="2000" dirty="0" err="1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сме</a:t>
            </a:r>
            <a:r>
              <a:rPr lang="ru-RU" sz="2000" dirty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разработили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и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интегрирали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NUnit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тестове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които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гарантират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надеждността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и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качеството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на кода.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Постигнатото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покритие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на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тестовете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е над 70% от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функционалността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на проекта,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което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осигурява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добра степен на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валидиране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на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основните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модули и логика.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Това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ни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позволява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по-лесно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да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откриваме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и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предотвратяваме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грешки,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както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и да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поддържаме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стабилност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при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бъдещи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разширения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и </a:t>
            </a:r>
            <a:r>
              <a:rPr lang="ru-RU" sz="20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подобрения</a:t>
            </a:r>
            <a:r>
              <a:rPr lang="ru-RU" sz="2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</a:t>
            </a:r>
            <a:endParaRPr lang="bg-BG" sz="2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249"/>
          <a:stretch/>
        </p:blipFill>
        <p:spPr>
          <a:xfrm>
            <a:off x="9433755" y="1838035"/>
            <a:ext cx="1824353" cy="47127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6396" y="1838035"/>
            <a:ext cx="4793556" cy="471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40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C70FE9A1-B261-411C-8454-74126DC8578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75000"/>
              <a:lumOff val="2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bg-BG" sz="48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itka Display" panose="02000505000000020004" pitchFamily="2" charset="0"/>
                <a:cs typeface="Calibri bold" panose="020F0702030404030204" pitchFamily="34" charset="0"/>
              </a:rPr>
              <a:t>СЪЩНОСТ НА БАЗАТА ДАННИ:</a:t>
            </a:r>
            <a:endParaRPr lang="en-GB" sz="48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Sitka Display" panose="02000505000000020004" pitchFamily="2" charset="0"/>
              <a:cs typeface="Calibri bold" panose="020F0702030404030204" pitchFamily="34" charset="0"/>
            </a:endParaRP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8085923B-E8CD-4600-AB50-53D59DFF8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7623"/>
            <a:ext cx="10515600" cy="4526915"/>
          </a:xfrm>
        </p:spPr>
        <p:txBody>
          <a:bodyPr>
            <a:normAutofit fontScale="92500" lnSpcReduction="10000"/>
          </a:bodyPr>
          <a:lstStyle/>
          <a:p>
            <a:pPr lvl="0">
              <a:buFont typeface="Wingdings" panose="05000000000000000000" pitchFamily="2" charset="2"/>
              <a:buChar char="ü"/>
            </a:pPr>
            <a:r>
              <a:rPr lang="bg-BG" sz="3200" dirty="0" smtClean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Структура</a:t>
            </a:r>
            <a:r>
              <a:rPr lang="bg-BG" sz="32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: Базата данни включва таблици за затворници, килии, отделения, пазачи, смени, престъпления, наказания, здравни досиета и посетители.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bg-BG" sz="32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Функционалности: Извличане на информация за затворници, лекари и наказания чрез </a:t>
            </a:r>
            <a:r>
              <a:rPr lang="en-US" sz="32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My</a:t>
            </a:r>
            <a:r>
              <a:rPr lang="bg-BG" sz="32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SQL заявки – например, топ 5 затворници с най-дълги присъди.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bg-BG" sz="32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Динамичност: Поддържа актуализация на данните, като смяна на пазачи или заетост по блокове.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bg-BG" sz="32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Екипна работа: Реализиран от трима души, като задачите включват създаване на таблици, писане на заявки и тестване.</a:t>
            </a:r>
          </a:p>
        </p:txBody>
      </p:sp>
    </p:spTree>
    <p:extLst>
      <p:ext uri="{BB962C8B-B14F-4D97-AF65-F5344CB8AC3E}">
        <p14:creationId xmlns:p14="http://schemas.microsoft.com/office/powerpoint/2010/main" val="2528270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75000"/>
              <a:lumOff val="25000"/>
            </a:schemeClr>
          </a:solidFill>
        </p:spPr>
        <p:txBody>
          <a:bodyPr/>
          <a:lstStyle/>
          <a:p>
            <a:pPr algn="ctr"/>
            <a:r>
              <a:rPr lang="bg-BG" sz="48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itka Display" panose="02000505000000020004" pitchFamily="2" charset="0"/>
                <a:cs typeface="Calibri bold" panose="020F0702030404030204" pitchFamily="34" charset="0"/>
              </a:rPr>
              <a:t>ИЗПОЛЗВАНА ЛИТЕРАТУРА</a:t>
            </a:r>
            <a:r>
              <a:rPr lang="en-US" sz="48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itka Display" panose="02000505000000020004" pitchFamily="2" charset="0"/>
                <a:cs typeface="Calibri bold" panose="020F0702030404030204" pitchFamily="34" charset="0"/>
              </a:rPr>
              <a:t>:</a:t>
            </a:r>
            <a:endParaRPr lang="bg-BG" sz="48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Sitka Display" panose="02000505000000020004" pitchFamily="2" charset="0"/>
              <a:cs typeface="Calibri bold" panose="020F07020304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8" y="2235200"/>
            <a:ext cx="7640783" cy="4194629"/>
          </a:xfrm>
        </p:spPr>
        <p:txBody>
          <a:bodyPr/>
          <a:lstStyle/>
          <a:p>
            <a:pPr marL="0" indent="0">
              <a:buNone/>
            </a:pPr>
            <a:r>
              <a:rPr lang="en-US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</a:t>
            </a:r>
            <a:r>
              <a:rPr lang="bg-BG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://</a:t>
            </a:r>
            <a:r>
              <a:rPr lang="en-US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dev</a:t>
            </a:r>
            <a:r>
              <a:rPr lang="bg-BG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.</a:t>
            </a:r>
            <a:r>
              <a:rPr lang="en-US" sz="30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mysql</a:t>
            </a:r>
            <a:r>
              <a:rPr lang="bg-BG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.</a:t>
            </a:r>
            <a:r>
              <a:rPr lang="en-US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com</a:t>
            </a:r>
            <a:r>
              <a:rPr lang="bg-BG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/</a:t>
            </a:r>
            <a:r>
              <a:rPr lang="en-US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doc</a:t>
            </a:r>
            <a:r>
              <a:rPr lang="bg-BG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/</a:t>
            </a:r>
            <a:r>
              <a:rPr lang="en-US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workbench</a:t>
            </a:r>
            <a:r>
              <a:rPr lang="bg-BG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/</a:t>
            </a:r>
            <a:r>
              <a:rPr lang="en-US" sz="30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en</a:t>
            </a:r>
            <a:r>
              <a:rPr lang="bg-BG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/</a:t>
            </a:r>
            <a:endParaRPr lang="bg-BG" sz="3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</a:t>
            </a:r>
            <a:r>
              <a:rPr lang="bg-BG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://</a:t>
            </a:r>
            <a:r>
              <a:rPr lang="en-US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www</a:t>
            </a:r>
            <a:r>
              <a:rPr lang="bg-BG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.</a:t>
            </a:r>
            <a:r>
              <a:rPr lang="en-US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w</a:t>
            </a:r>
            <a:r>
              <a:rPr lang="bg-BG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3</a:t>
            </a:r>
            <a:r>
              <a:rPr lang="en-US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schools</a:t>
            </a:r>
            <a:r>
              <a:rPr lang="bg-BG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.</a:t>
            </a:r>
            <a:r>
              <a:rPr lang="en-US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com</a:t>
            </a:r>
            <a:r>
              <a:rPr lang="bg-BG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/</a:t>
            </a:r>
            <a:r>
              <a:rPr lang="en-US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MySQL</a:t>
            </a:r>
            <a:r>
              <a:rPr lang="bg-BG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/</a:t>
            </a:r>
            <a:r>
              <a:rPr lang="en-US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default</a:t>
            </a:r>
            <a:r>
              <a:rPr lang="bg-BG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.</a:t>
            </a:r>
            <a:r>
              <a:rPr lang="en-US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asp</a:t>
            </a:r>
            <a:endParaRPr lang="bg-BG" sz="3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</a:t>
            </a:r>
            <a:r>
              <a:rPr lang="ru-RU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://</a:t>
            </a:r>
            <a:r>
              <a:rPr lang="en-US" sz="300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gemini</a:t>
            </a:r>
            <a:r>
              <a:rPr lang="ru-RU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.</a:t>
            </a:r>
            <a:r>
              <a:rPr lang="en-US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google</a:t>
            </a:r>
            <a:r>
              <a:rPr lang="ru-RU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.</a:t>
            </a:r>
            <a:r>
              <a:rPr lang="en-US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com</a:t>
            </a:r>
            <a:r>
              <a:rPr lang="ru-RU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(</a:t>
            </a:r>
            <a:r>
              <a:rPr lang="bg-BG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използван за генериране на иформация за запълване на таблица </a:t>
            </a:r>
            <a:r>
              <a:rPr lang="en-US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prisoners</a:t>
            </a:r>
            <a:r>
              <a:rPr lang="bg-BG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и </a:t>
            </a:r>
            <a:r>
              <a:rPr lang="en-US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guards </a:t>
            </a:r>
            <a:r>
              <a:rPr lang="bg-BG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и за генериране на снимката за презентацията</a:t>
            </a:r>
            <a:r>
              <a:rPr lang="ru-RU" sz="3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</a:t>
            </a:r>
            <a:endParaRPr lang="bg-BG" sz="30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074" name="Picture 2" descr="File:Google Gemini logo.svg - Wikimedia Common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9124" y="1852620"/>
            <a:ext cx="3081111" cy="1138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W3Schools Reviews | Course Report"/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76400" y1="26800" x2="76400" y2="26800"/>
                        <a14:foregroundMark x1="55000" y1="73200" x2="55000" y2="73200"/>
                        <a14:foregroundMark x1="64000" y1="72800" x2="64000" y2="72800"/>
                        <a14:foregroundMark x1="71600" y1="71000" x2="71600" y2="71000"/>
                        <a14:foregroundMark x1="79400" y1="72600" x2="79400" y2="72600"/>
                        <a14:foregroundMark x1="44600" y1="72800" x2="44600" y2="72800"/>
                        <a14:foregroundMark x1="33200" y1="71600" x2="33200" y2="71600"/>
                        <a14:foregroundMark x1="23400" y1="75200" x2="23400" y2="752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398" y="3327002"/>
            <a:ext cx="3102827" cy="3102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8957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7999" y="2264228"/>
            <a:ext cx="47461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bg-BG" sz="4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64959" y="1910973"/>
            <a:ext cx="1010194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9600" dirty="0">
                <a:solidFill>
                  <a:srgbClr val="7C808A"/>
                </a:solidFill>
                <a:latin typeface="Bookman Old Style" panose="02050604050505020204" pitchFamily="18" charset="0"/>
              </a:rPr>
              <a:t>Благодарим за вниманието!</a:t>
            </a:r>
          </a:p>
        </p:txBody>
      </p:sp>
      <p:sp>
        <p:nvSpPr>
          <p:cNvPr id="10" name="AutoShape 10" descr="Prison Bar Vector Art PNG Images | Free Download On Pngtre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/>
          </a:p>
        </p:txBody>
      </p:sp>
      <p:sp>
        <p:nvSpPr>
          <p:cNvPr id="11" name="AutoShape 14" descr="Prison Bars Clipart Images | Free Download | PNG Transparent Background -  Pngtre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/>
          </a:p>
        </p:txBody>
      </p:sp>
      <p:pic>
        <p:nvPicPr>
          <p:cNvPr id="5136" name="Picture 16" descr="Jail Bars Metal Photos Free Transparent Image HD Transparent HQ PNG  Download | FreePNGim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7938"/>
            <a:ext cx="12192000" cy="6850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0949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661</TotalTime>
  <Words>742</Words>
  <Application>Microsoft Office PowerPoint</Application>
  <PresentationFormat>Widescreen</PresentationFormat>
  <Paragraphs>76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Bookman Old Style</vt:lpstr>
      <vt:lpstr>Calibri</vt:lpstr>
      <vt:lpstr>Calibri bold</vt:lpstr>
      <vt:lpstr>Calibri Light</vt:lpstr>
      <vt:lpstr>Century Schoolbook</vt:lpstr>
      <vt:lpstr>Sitka Display</vt:lpstr>
      <vt:lpstr>Wingdings</vt:lpstr>
      <vt:lpstr>Office Theme</vt:lpstr>
      <vt:lpstr>PowerPoint Presentation</vt:lpstr>
      <vt:lpstr>ЗА НАС:</vt:lpstr>
      <vt:lpstr>Цел:</vt:lpstr>
      <vt:lpstr>РАЗПРЕДЕЛЕНИЕ НА РОЛИТЕ:</vt:lpstr>
      <vt:lpstr>ОСНОВНИ ЕТАПИ В РЕАЛИЗАЦИЯТА:</vt:lpstr>
      <vt:lpstr>PowerPoint Presentation</vt:lpstr>
      <vt:lpstr>PowerPoint Presentation</vt:lpstr>
      <vt:lpstr>РЕАЛИЗАЦИЯ НА ПРИЛОЖЕНИЕТО:</vt:lpstr>
      <vt:lpstr>РЕАЛИЗАЦИЯ НА ПРИЛОЖЕНИЕТО:</vt:lpstr>
      <vt:lpstr>РЕАЛИЗАЦИЯ НА ПРИЛОЖЕНИЕТО:</vt:lpstr>
      <vt:lpstr>КОНЗОЛНО ПРИЛОЖЕНИЕ:</vt:lpstr>
      <vt:lpstr>ГРАФИЧЕН ИНТЕРФЕИС:</vt:lpstr>
      <vt:lpstr>РЕАЛИЗАЦИЯ НА ПРИЛОЖЕНИЕТО:</vt:lpstr>
      <vt:lpstr>РЕАЛИЗАЦИЯ НА ПРИЛОЖЕНИЕТО:</vt:lpstr>
      <vt:lpstr>РЕАЛИЗАЦИЯ НА ПРИЛОЖЕНИЕТО:</vt:lpstr>
      <vt:lpstr>СЪЩНОСТ НА БАЗАТА ДАННИ:</vt:lpstr>
      <vt:lpstr>ИЗПОЛЗВАНА ЛИТЕРАТУРА: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user1</dc:creator>
  <cp:lastModifiedBy>user1</cp:lastModifiedBy>
  <cp:revision>62</cp:revision>
  <dcterms:created xsi:type="dcterms:W3CDTF">2023-03-25T09:03:48Z</dcterms:created>
  <dcterms:modified xsi:type="dcterms:W3CDTF">2026-03-29T09:08:13Z</dcterms:modified>
</cp:coreProperties>
</file>